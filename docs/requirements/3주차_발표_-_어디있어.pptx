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자료</a:t>
            </a:r>
          </a:p>
          <a:p>
            <a:r>
              <a:t>행정안전부 안전디딤돌 주요 기능: https://www.mois.go.kr/frt/sub/a06/b11/safetyStep/screen.do</a:t>
            </a:r>
          </a:p>
          <a:p>
            <a:r>
              <a:t>안전디딤돌 앱 최신 기능 설명: https://play.google.com/store/apps/details?id=kr.or.klid.newsafekorea2025&amp;hl=ko</a:t>
            </a:r>
          </a:p>
          <a:p>
            <a:r>
              <a:t>모두의 안전 대피소 소개: https://modoosafe.mixon.io/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구현 범위 참고</a:t>
            </a:r>
          </a:p>
          <a:p>
            <a:r>
              <a:t>서울 실시간 도시데이터는 주요 장소 중심이며 실제 현장 인원과 차이가 날 수 있음: https://data.seoul.go.kr/dataVisual/seoul/guide.do</a:t>
            </a:r>
          </a:p>
          <a:p>
            <a:r>
              <a:t>카카오모빌리티 도보 길찾기는 제휴 조건 확인 필요: https://developers.kakaomobility.com/affiliate/walking/directions</a:t>
            </a:r>
          </a:p>
          <a:p>
            <a:r>
              <a:t>발표 시 1차 MVP는 호우·침수 위험구역 회피 시나리오로 설명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안전 원칙</a:t>
            </a:r>
          </a:p>
          <a:p>
            <a:r>
              <a:t>공식 재난 단계와 원문 행동요령을 기준으로 사용하고 LLM은 요약과 쉬운 표현에만 활용</a:t>
            </a:r>
          </a:p>
          <a:p>
            <a:r>
              <a:t>AI 출력에는 출처·발표시간·갱신시간·원문 링크를 함께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FCC191-5854-437C-9BF1-57325A87BFE3}"/>
              </a:ext>
            </a:extLst>
          </p:cNvPr>
          <p:cNvSpPr>
            <a:spLocks noGrp="1"/>
          </p:cNvSpPr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E4265"/>
          </a:solidFill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149E8B-1E96-4EC9-800E-88514670C1C8}"/>
              </a:ext>
            </a:extLst>
          </p:cNvPr>
          <p:cNvSpPr>
            <a:spLocks noGrp="1"/>
          </p:cNvSpPr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E4265"/>
          </a:solidFill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77CDED7-69AE-466F-9993-3A8E20128340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854050"/>
            <a:ext cx="395021" cy="395021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C7B4BCCD-05B1-471A-B705-CC5F0F986A29}"/>
              </a:ext>
            </a:extLst>
          </p:cNvPr>
          <p:cNvSpPr>
            <a:spLocks noGrp="1"/>
          </p:cNvSpPr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 spc="20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CAPSTONE PROJECT · 초기 주제 발표</a:t>
            </a:r>
            <a:endParaRPr sz="14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7D34961-D039-483D-9DFB-CCFA15AB1BB8}"/>
              </a:ext>
            </a:extLst>
          </p:cNvPr>
          <p:cNvSpPr>
            <a:spLocks noGrp="1"/>
          </p:cNvSpPr>
          <p:nvPr/>
        </p:nvSpPr>
        <p:spPr>
          <a:xfrm>
            <a:off x="548640" y="2697480"/>
            <a:ext cx="1078992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실시간 재난 정보 대시보드</a:t>
            </a:r>
            <a:endParaRPr sz="48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E492D0C-0A69-4AD0-A106-D1A788CD45DF}"/>
              </a:ext>
            </a:extLst>
          </p:cNvPr>
          <p:cNvSpPr>
            <a:spLocks noGrp="1"/>
          </p:cNvSpPr>
          <p:nvPr/>
        </p:nvSpPr>
        <p:spPr>
          <a:xfrm>
            <a:off x="548640" y="3794760"/>
            <a:ext cx="9601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>
                <a:solidFill>
                  <a:srgbClr val="EAF0F6"/>
                </a:solidFill>
                <a:latin typeface="Calibri"/>
                <a:ea typeface="Calibri"/>
                <a:cs typeface="Calibri"/>
              </a:rPr>
              <a:t>재난 위험과 사용자 조건을 반영한 대피 의사결정 지원 서비스</a:t>
            </a:r>
            <a:endParaRPr sz="17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EA962BB-8F29-4D91-95B1-CDB1980C7464}"/>
              </a:ext>
            </a:extLst>
          </p:cNvPr>
          <p:cNvSpPr>
            <a:spLocks noGrp="1"/>
          </p:cNvSpPr>
          <p:nvPr/>
        </p:nvSpPr>
        <p:spPr>
          <a:xfrm>
            <a:off x="548639" y="6537960"/>
            <a:ext cx="3140491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B0CC3DB-6162-4BF5-A408-FBB4290CB707}"/>
              </a:ext>
            </a:extLst>
          </p:cNvPr>
          <p:cNvSpPr>
            <a:spLocks noGrp="1"/>
          </p:cNvSpPr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어디있조</a:t>
            </a:r>
            <a:r>
              <a:rPr lang="en-US" altLang="ko-Kore-KR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ko-KR" alt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허동우</a:t>
            </a:r>
            <a:r>
              <a:rPr lang="en-US" altLang="ko-KR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김무겸</a:t>
            </a:r>
            <a:r>
              <a:rPr lang="en-US" altLang="ko-KR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신경진</a:t>
            </a:r>
            <a:r>
              <a:rPr lang="en-US" altLang="ko-KR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이경민</a:t>
            </a:r>
            <a:endParaRPr lang="en-US" altLang="ko-Kore-KR" sz="1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93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4DB766-590A-4D04-AC73-46D4FD54208A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 spc="20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BACKGROUND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0AFD5A-84E7-4F5A-B93D-B4216E047294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2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재난 정보는 많지만, 대피 결정은 여전히 어렵다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DA860DB-12AD-4391-BF33-8D9B73BDC786}"/>
              </a:ext>
            </a:extLst>
          </p:cNvPr>
          <p:cNvSpPr>
            <a:spLocks noGrp="1"/>
          </p:cNvSpPr>
          <p:nvPr/>
        </p:nvSpPr>
        <p:spPr>
          <a:xfrm>
            <a:off x="548640" y="187452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EAF0F6"/>
          </a:solidFill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84A39C-1240-47F0-8CBC-9E1DA1F9A0A7}"/>
              </a:ext>
            </a:extLst>
          </p:cNvPr>
          <p:cNvSpPr>
            <a:spLocks noGrp="1"/>
          </p:cNvSpPr>
          <p:nvPr/>
        </p:nvSpPr>
        <p:spPr>
          <a:xfrm>
            <a:off x="1760220" y="219456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190" y="2408530"/>
            <a:ext cx="395021" cy="395021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28A7438-E450-4DD5-8210-D517759B3F1E}"/>
              </a:ext>
            </a:extLst>
          </p:cNvPr>
          <p:cNvSpPr>
            <a:spLocks noGrp="1"/>
          </p:cNvSpPr>
          <p:nvPr/>
        </p:nvSpPr>
        <p:spPr>
          <a:xfrm>
            <a:off x="548640" y="3154680"/>
            <a:ext cx="3246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지진</a:t>
            </a:r>
            <a:endParaRPr sz="2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7140057-4509-40F7-83F4-3F82493D7648}"/>
              </a:ext>
            </a:extLst>
          </p:cNvPr>
          <p:cNvSpPr>
            <a:spLocks noGrp="1"/>
          </p:cNvSpPr>
          <p:nvPr/>
        </p:nvSpPr>
        <p:spPr>
          <a:xfrm>
            <a:off x="777240" y="3566160"/>
            <a:ext cx="27889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예고 없이 발생할 수 있어</a:t>
            </a:r>
            <a:endParaRPr sz="1250"/>
          </a:p>
          <a:p>
            <a:pPr marL="0" indent="0" algn="ctr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즉각적인 대피 판단이 필요</a:t>
            </a:r>
            <a:endParaRPr sz="125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1484F1C-E648-4C52-BB35-2CF1C2D890AE}"/>
              </a:ext>
            </a:extLst>
          </p:cNvPr>
          <p:cNvSpPr>
            <a:spLocks noGrp="1"/>
          </p:cNvSpPr>
          <p:nvPr/>
        </p:nvSpPr>
        <p:spPr>
          <a:xfrm>
            <a:off x="4114800" y="187452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EAF0F6"/>
          </a:solidFill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188BF33-8ED5-4C21-9EBD-DA5AF13C1A15}"/>
              </a:ext>
            </a:extLst>
          </p:cNvPr>
          <p:cNvSpPr>
            <a:spLocks noGrp="1"/>
          </p:cNvSpPr>
          <p:nvPr/>
        </p:nvSpPr>
        <p:spPr>
          <a:xfrm>
            <a:off x="5326380" y="219456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350" y="2408530"/>
            <a:ext cx="395021" cy="395021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6EB457B6-49CD-4F82-BE2E-6AC80DD910C6}"/>
              </a:ext>
            </a:extLst>
          </p:cNvPr>
          <p:cNvSpPr>
            <a:spLocks noGrp="1"/>
          </p:cNvSpPr>
          <p:nvPr/>
        </p:nvSpPr>
        <p:spPr>
          <a:xfrm>
            <a:off x="4114800" y="3154680"/>
            <a:ext cx="3246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집중호우</a:t>
            </a:r>
            <a:endParaRPr sz="20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456A7B0-B29E-4003-8DBF-264A5FEB7565}"/>
              </a:ext>
            </a:extLst>
          </p:cNvPr>
          <p:cNvSpPr>
            <a:spLocks noGrp="1"/>
          </p:cNvSpPr>
          <p:nvPr/>
        </p:nvSpPr>
        <p:spPr>
          <a:xfrm>
            <a:off x="4343400" y="3566160"/>
            <a:ext cx="27889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침수·도로 통제·대피소 정보를</a:t>
            </a:r>
            <a:endParaRPr sz="1250"/>
          </a:p>
          <a:p>
            <a:pPr marL="0" indent="0" algn="ctr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여러 서비스에서 확인</a:t>
            </a:r>
            <a:endParaRPr sz="125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8A8363C-2DF1-4A3C-8BAC-5637851D7565}"/>
              </a:ext>
            </a:extLst>
          </p:cNvPr>
          <p:cNvSpPr>
            <a:spLocks noGrp="1"/>
          </p:cNvSpPr>
          <p:nvPr/>
        </p:nvSpPr>
        <p:spPr>
          <a:xfrm>
            <a:off x="7680960" y="187452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EAF0F6"/>
          </a:solidFill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9F6EEE8-894D-4E8A-956E-082EE11CEB34}"/>
              </a:ext>
            </a:extLst>
          </p:cNvPr>
          <p:cNvSpPr>
            <a:spLocks noGrp="1"/>
          </p:cNvSpPr>
          <p:nvPr/>
        </p:nvSpPr>
        <p:spPr>
          <a:xfrm>
            <a:off x="8892540" y="219456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510" y="2408530"/>
            <a:ext cx="395021" cy="395021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E3DBA3F5-828E-45A5-B979-559FF9544023}"/>
              </a:ext>
            </a:extLst>
          </p:cNvPr>
          <p:cNvSpPr>
            <a:spLocks noGrp="1"/>
          </p:cNvSpPr>
          <p:nvPr/>
        </p:nvSpPr>
        <p:spPr>
          <a:xfrm>
            <a:off x="7680960" y="3154680"/>
            <a:ext cx="3246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산불</a:t>
            </a:r>
            <a:endParaRPr sz="20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6A7FEF2-892C-4E8C-8CD8-F190E668D10F}"/>
              </a:ext>
            </a:extLst>
          </p:cNvPr>
          <p:cNvSpPr>
            <a:spLocks noGrp="1"/>
          </p:cNvSpPr>
          <p:nvPr/>
        </p:nvSpPr>
        <p:spPr>
          <a:xfrm>
            <a:off x="7909560" y="3566160"/>
            <a:ext cx="27889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풍향과 지형에 따라 확산돼</a:t>
            </a:r>
            <a:endParaRPr sz="1250"/>
          </a:p>
          <a:p>
            <a:pPr marL="0" indent="0" algn="ctr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대피 방향 판단이 어려움</a:t>
            </a:r>
            <a:endParaRPr sz="125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A343779-518D-4887-8858-C8FE55DAA650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</p:spPr>
      </p:sp>
      <p:pic>
        <p:nvPicPr>
          <p:cNvPr id="46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92040"/>
            <a:ext cx="685800" cy="68580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5BE8B9D3-57C5-45EB-9663-A4F9A3B1C248}"/>
              </a:ext>
            </a:extLst>
          </p:cNvPr>
          <p:cNvSpPr>
            <a:spLocks noGrp="1"/>
          </p:cNvSpPr>
          <p:nvPr/>
        </p:nvSpPr>
        <p:spPr>
          <a:xfrm>
            <a:off x="1783080" y="4754880"/>
            <a:ext cx="9509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EAF0F6"/>
                </a:solidFill>
                <a:latin typeface="Cambria"/>
                <a:ea typeface="Cambria"/>
                <a:cs typeface="Cambria"/>
              </a:rPr>
              <a:t>문제는 정보 부족보다 '행동 결정의 어려움'이다.</a:t>
            </a:r>
            <a:endParaRPr sz="180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77571C55-8208-4DE9-9DFB-7EB1FEB380E5}"/>
              </a:ext>
            </a:extLst>
          </p:cNvPr>
          <p:cNvSpPr>
            <a:spLocks noGrp="1"/>
          </p:cNvSpPr>
          <p:nvPr/>
        </p:nvSpPr>
        <p:spPr>
          <a:xfrm>
            <a:off x="1783080" y="5212080"/>
            <a:ext cx="95097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</a:pPr>
            <a:r>
              <a:rPr sz="13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재난정보는 제공되지만, 재난별 위험·대피소 조건·이동 경로를 함께 비교하기 어렵다</a:t>
            </a:r>
            <a:endParaRPr sz="130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E0E5FA3E-0049-4EDD-985A-646C23872FE9}"/>
              </a:ext>
            </a:extLst>
          </p:cNvPr>
          <p:cNvSpPr>
            <a:spLocks noGrp="1"/>
          </p:cNvSpPr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02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87575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F5AAAB-EBBA-4BA1-93AE-8EE117B55CC3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 spc="20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COMPETITIVE ANALYSIS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0D2641-8A5A-46C2-9C46-53483B174F78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2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기존 서비스와 남아 있는 의사결정 공백</a:t>
            </a:r>
            <a:endParaRPr sz="3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2A6234-A5F4-49E7-A94C-664399668B83}"/>
              </a:ext>
            </a:extLst>
          </p:cNvPr>
          <p:cNvSpPr>
            <a:spLocks noGrp="1"/>
          </p:cNvSpPr>
          <p:nvPr/>
        </p:nvSpPr>
        <p:spPr>
          <a:xfrm>
            <a:off x="548640" y="1828800"/>
            <a:ext cx="3017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서비스</a:t>
            </a:r>
            <a:endParaRPr sz="13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838279-83A8-40D9-AE4F-440066FD150D}"/>
              </a:ext>
            </a:extLst>
          </p:cNvPr>
          <p:cNvSpPr>
            <a:spLocks noGrp="1"/>
          </p:cNvSpPr>
          <p:nvPr/>
        </p:nvSpPr>
        <p:spPr>
          <a:xfrm>
            <a:off x="3749040" y="1828800"/>
            <a:ext cx="35661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강점</a:t>
            </a:r>
            <a:endParaRPr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9517DE-4FC6-4B39-803C-85A7AA17DE12}"/>
              </a:ext>
            </a:extLst>
          </p:cNvPr>
          <p:cNvSpPr>
            <a:spLocks noGrp="1"/>
          </p:cNvSpPr>
          <p:nvPr/>
        </p:nvSpPr>
        <p:spPr>
          <a:xfrm>
            <a:off x="7498080" y="1828800"/>
            <a:ext cx="405079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한계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FE209B2-B871-428D-83F1-2AF9432A2C9A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17BEC4-471A-422A-A105-AAC4FA32049E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28346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서비스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FE8C6AF-2831-4E53-BF9C-817B958E5943}"/>
              </a:ext>
            </a:extLst>
          </p:cNvPr>
          <p:cNvSpPr>
            <a:spLocks noGrp="1"/>
          </p:cNvSpPr>
          <p:nvPr/>
        </p:nvSpPr>
        <p:spPr>
          <a:xfrm>
            <a:off x="3886200" y="1828800"/>
            <a:ext cx="3383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강점</a:t>
            </a:r>
            <a:endParaRPr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04A72E-7FD3-4F39-B6BE-F79A10BF665A}"/>
              </a:ext>
            </a:extLst>
          </p:cNvPr>
          <p:cNvSpPr>
            <a:spLocks noGrp="1"/>
          </p:cNvSpPr>
          <p:nvPr/>
        </p:nvSpPr>
        <p:spPr>
          <a:xfrm>
            <a:off x="7635240" y="1828800"/>
            <a:ext cx="386791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한계</a:t>
            </a:r>
            <a:endParaRPr sz="13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93F7545-4B89-4401-89E3-63E03A38F8D8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11091672" cy="1051560"/>
          </a:xfrm>
          <a:prstGeom prst="rect">
            <a:avLst/>
          </a:prstGeom>
          <a:solidFill>
            <a:srgbClr val="EAF0F6"/>
          </a:solidFill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7FC1F4F-76C7-4CFA-8BF1-3299E77F68C5}"/>
              </a:ext>
            </a:extLst>
          </p:cNvPr>
          <p:cNvSpPr>
            <a:spLocks noGrp="1"/>
          </p:cNvSpPr>
          <p:nvPr/>
        </p:nvSpPr>
        <p:spPr>
          <a:xfrm>
            <a:off x="685800" y="2359152"/>
            <a:ext cx="2743200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안전디딤돌</a:t>
            </a:r>
            <a:endParaRPr sz="1150"/>
          </a:p>
          <a:p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(행안부 대표앱)</a:t>
            </a:r>
            <a:endParaRPr sz="11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B2C6ACB-C1C5-4730-9666-CC6AA3C8E6BE}"/>
              </a:ext>
            </a:extLst>
          </p:cNvPr>
          <p:cNvSpPr>
            <a:spLocks noGrp="1"/>
          </p:cNvSpPr>
          <p:nvPr/>
        </p:nvSpPr>
        <p:spPr>
          <a:xfrm>
            <a:off x="3886200" y="2359152"/>
            <a:ext cx="3291840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재난문자·행동요령·대피시설·관심지역 설정</a:t>
            </a:r>
            <a:endParaRPr sz="11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8C30F0A-690B-452B-B1CE-B8EAD79336E8}"/>
              </a:ext>
            </a:extLst>
          </p:cNvPr>
          <p:cNvSpPr>
            <a:spLocks noGrp="1"/>
          </p:cNvSpPr>
          <p:nvPr/>
        </p:nvSpPr>
        <p:spPr>
          <a:xfrm>
            <a:off x="7635240" y="2359152"/>
            <a:ext cx="3776472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위험구역과 사용자 조건을 반영한</a:t>
            </a:r>
            <a:endParaRPr sz="1150"/>
          </a:p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대피소·경로 비교가 부족</a:t>
            </a:r>
            <a:endParaRPr sz="11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E0592F7-E72C-4C82-8080-1E7F95BFEF34}"/>
              </a:ext>
            </a:extLst>
          </p:cNvPr>
          <p:cNvSpPr>
            <a:spLocks noGrp="1"/>
          </p:cNvSpPr>
          <p:nvPr/>
        </p:nvSpPr>
        <p:spPr>
          <a:xfrm>
            <a:off x="548640" y="3337560"/>
            <a:ext cx="11091672" cy="10515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E8F0E55-5671-458D-8FF7-8809E95C80E3}"/>
              </a:ext>
            </a:extLst>
          </p:cNvPr>
          <p:cNvSpPr>
            <a:spLocks noGrp="1"/>
          </p:cNvSpPr>
          <p:nvPr/>
        </p:nvSpPr>
        <p:spPr>
          <a:xfrm>
            <a:off x="685800" y="3410712"/>
            <a:ext cx="2743200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Emergency Ready App</a:t>
            </a:r>
            <a:endParaRPr sz="1150"/>
          </a:p>
          <a:p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(외국인용)</a:t>
            </a:r>
            <a:endParaRPr sz="11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486F909-5FA3-4FFB-8139-626518BD64C5}"/>
              </a:ext>
            </a:extLst>
          </p:cNvPr>
          <p:cNvSpPr>
            <a:spLocks noGrp="1"/>
          </p:cNvSpPr>
          <p:nvPr/>
        </p:nvSpPr>
        <p:spPr>
          <a:xfrm>
            <a:off x="3886200" y="3410712"/>
            <a:ext cx="3291840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다국어 재난문자와 안전정보 제공</a:t>
            </a:r>
            <a:endParaRPr sz="11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F895D14-583B-4B62-9FDD-4FB4A04EB5EF}"/>
              </a:ext>
            </a:extLst>
          </p:cNvPr>
          <p:cNvSpPr>
            <a:spLocks noGrp="1"/>
          </p:cNvSpPr>
          <p:nvPr/>
        </p:nvSpPr>
        <p:spPr>
          <a:xfrm>
            <a:off x="7635240" y="3410712"/>
            <a:ext cx="3776472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다국어 정보 제공 중심으로</a:t>
            </a:r>
            <a:endParaRPr sz="1150"/>
          </a:p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개인별 대피 판단 지원은 제한적</a:t>
            </a:r>
            <a:endParaRPr sz="115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3C1F119-2B8B-4D46-B6A6-DC49A7D1BC07}"/>
              </a:ext>
            </a:extLst>
          </p:cNvPr>
          <p:cNvSpPr>
            <a:spLocks noGrp="1"/>
          </p:cNvSpPr>
          <p:nvPr/>
        </p:nvSpPr>
        <p:spPr>
          <a:xfrm>
            <a:off x="548640" y="4389120"/>
            <a:ext cx="11091672" cy="1051560"/>
          </a:xfrm>
          <a:prstGeom prst="rect">
            <a:avLst/>
          </a:prstGeom>
          <a:solidFill>
            <a:srgbClr val="EAF0F6"/>
          </a:solidFill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4049229-3C67-4C57-A5CE-832B51B957F1}"/>
              </a:ext>
            </a:extLst>
          </p:cNvPr>
          <p:cNvSpPr>
            <a:spLocks noGrp="1"/>
          </p:cNvSpPr>
          <p:nvPr/>
        </p:nvSpPr>
        <p:spPr>
          <a:xfrm>
            <a:off x="685800" y="4462272"/>
            <a:ext cx="2743200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모두의 안전 대피소</a:t>
            </a:r>
            <a:endParaRPr sz="1150"/>
          </a:p>
          <a:p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(민간 플랫폼)</a:t>
            </a:r>
            <a:endParaRPr sz="11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2627D99-47E2-4F76-B820-906C9412408C}"/>
              </a:ext>
            </a:extLst>
          </p:cNvPr>
          <p:cNvSpPr>
            <a:spLocks noGrp="1"/>
          </p:cNvSpPr>
          <p:nvPr/>
        </p:nvSpPr>
        <p:spPr>
          <a:xfrm>
            <a:off x="3886200" y="4462272"/>
            <a:ext cx="3291840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시민이 접근성·편의시설을 점검·공유</a:t>
            </a:r>
            <a:endParaRPr sz="11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08306AF-CF9B-42B1-86F6-E561767877AF}"/>
              </a:ext>
            </a:extLst>
          </p:cNvPr>
          <p:cNvSpPr>
            <a:spLocks noGrp="1"/>
          </p:cNvSpPr>
          <p:nvPr/>
        </p:nvSpPr>
        <p:spPr>
          <a:xfrm>
            <a:off x="7635240" y="4462272"/>
            <a:ext cx="3776472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시설 정보 공유 중심으로
재난 발생 시 경로 안내는 제한적</a:t>
            </a:r>
            <a:endParaRPr sz="11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E9EAED0-2BB2-4421-B7E1-208802D18DC7}"/>
              </a:ext>
            </a:extLst>
          </p:cNvPr>
          <p:cNvSpPr>
            <a:spLocks noGrp="1"/>
          </p:cNvSpPr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 i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핵심 공백: 사용자 조건과 재난 위험을 함께 반영해 '어디로, 어떻게 이동할지' 비교하는 기능</a:t>
            </a:r>
            <a:endParaRPr sz="15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E8BB66A-BEDE-45B0-9834-20BE7029897A}"/>
              </a:ext>
            </a:extLst>
          </p:cNvPr>
          <p:cNvSpPr>
            <a:spLocks noGrp="1"/>
          </p:cNvSpPr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03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5563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88889C-E1B3-449A-A45C-B997D9AA23C5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 spc="20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PROJECT OVERVIEW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E0FD61-2B46-4079-B2A7-CA09C446C130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2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프로젝트 소개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DD848A-85F4-49A7-8E58-CD29AEC26959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546AA9-11EF-497F-889D-D03DD8BFA817}"/>
              </a:ext>
            </a:extLst>
          </p:cNvPr>
          <p:cNvSpPr>
            <a:spLocks noGrp="1"/>
          </p:cNvSpPr>
          <p:nvPr/>
        </p:nvSpPr>
        <p:spPr>
          <a:xfrm>
            <a:off x="914400" y="1965960"/>
            <a:ext cx="103784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5000"/>
              </a:lnSpc>
              <a:buNone/>
            </a:pPr>
            <a:r>
              <a:rPr sz="2000" b="1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산불·집중호우·지진 정보를 통합하고, 재난별 위험을 고려해 대피소와 이동 경로를 비교하는 웹 서비스</a:t>
            </a:r>
            <a:endParaRPr sz="2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CCF5795-4067-4E8A-9EF8-30A127199047}"/>
              </a:ext>
            </a:extLst>
          </p:cNvPr>
          <p:cNvSpPr>
            <a:spLocks noGrp="1"/>
          </p:cNvSpPr>
          <p:nvPr/>
        </p:nvSpPr>
        <p:spPr>
          <a:xfrm>
            <a:off x="548640" y="34747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1473574-5F3A-4599-96A7-F9C30BDDF4BA}"/>
              </a:ext>
            </a:extLst>
          </p:cNvPr>
          <p:cNvSpPr>
            <a:spLocks noGrp="1"/>
          </p:cNvSpPr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E88F1C-A362-4947-BB1D-73D649026F0D}"/>
              </a:ext>
            </a:extLst>
          </p:cNvPr>
          <p:cNvSpPr>
            <a:spLocks noGrp="1"/>
          </p:cNvSpPr>
          <p:nvPr/>
        </p:nvSpPr>
        <p:spPr>
          <a:xfrm>
            <a:off x="868680" y="379476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AE030FA-4C02-4BD7-8985-E786139EA52E}"/>
              </a:ext>
            </a:extLst>
          </p:cNvPr>
          <p:cNvSpPr>
            <a:spLocks noGrp="1"/>
          </p:cNvSpPr>
          <p:nvPr/>
        </p:nvSpPr>
        <p:spPr>
          <a:xfrm>
            <a:off x="868680" y="4434840"/>
            <a:ext cx="28803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공식 정보 통합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6F49F3-EF20-4E71-B9EB-D4BC9160C9C4}"/>
              </a:ext>
            </a:extLst>
          </p:cNvPr>
          <p:cNvSpPr>
            <a:spLocks noGrp="1"/>
          </p:cNvSpPr>
          <p:nvPr/>
        </p:nvSpPr>
        <p:spPr>
          <a:xfrm>
            <a:off x="868680" y="4892040"/>
            <a:ext cx="28803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공식 API의 출처와 갱신 시각 제공</a:t>
            </a:r>
            <a:endParaRPr sz="12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82CB744-EF30-430B-944E-C5468BA71F48}"/>
              </a:ext>
            </a:extLst>
          </p:cNvPr>
          <p:cNvSpPr>
            <a:spLocks noGrp="1"/>
          </p:cNvSpPr>
          <p:nvPr/>
        </p:nvSpPr>
        <p:spPr>
          <a:xfrm>
            <a:off x="4334256" y="34747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41AFDFF-0583-42BC-8509-4384E58B15F8}"/>
              </a:ext>
            </a:extLst>
          </p:cNvPr>
          <p:cNvSpPr>
            <a:spLocks noGrp="1"/>
          </p:cNvSpPr>
          <p:nvPr/>
        </p:nvSpPr>
        <p:spPr>
          <a:xfrm>
            <a:off x="4654296" y="3794760"/>
            <a:ext cx="502920" cy="502920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80D1706-523D-463C-B1D3-A04B3D4A5C3A}"/>
              </a:ext>
            </a:extLst>
          </p:cNvPr>
          <p:cNvSpPr>
            <a:spLocks noGrp="1"/>
          </p:cNvSpPr>
          <p:nvPr/>
        </p:nvSpPr>
        <p:spPr>
          <a:xfrm>
            <a:off x="4654296" y="379476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69465F5-44F0-4F26-9164-8E44458812C6}"/>
              </a:ext>
            </a:extLst>
          </p:cNvPr>
          <p:cNvSpPr>
            <a:spLocks noGrp="1"/>
          </p:cNvSpPr>
          <p:nvPr/>
        </p:nvSpPr>
        <p:spPr>
          <a:xfrm>
            <a:off x="4654296" y="4434840"/>
            <a:ext cx="28803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대피 의사결정 지원</a:t>
            </a:r>
            <a:endParaRPr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C03EC2-10C2-45E9-B8B5-94E7C9AD009C}"/>
              </a:ext>
            </a:extLst>
          </p:cNvPr>
          <p:cNvSpPr>
            <a:spLocks noGrp="1"/>
          </p:cNvSpPr>
          <p:nvPr/>
        </p:nvSpPr>
        <p:spPr>
          <a:xfrm>
            <a:off x="4654296" y="4892040"/>
            <a:ext cx="28803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위험구역과 시설 적합성을 함께 비교</a:t>
            </a:r>
            <a:endParaRPr sz="12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360020E-31FC-404C-89BE-6328EEB3533C}"/>
              </a:ext>
            </a:extLst>
          </p:cNvPr>
          <p:cNvSpPr>
            <a:spLocks noGrp="1"/>
          </p:cNvSpPr>
          <p:nvPr/>
        </p:nvSpPr>
        <p:spPr>
          <a:xfrm>
            <a:off x="8119872" y="34747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9D394DA-B5FE-41D1-ACCC-B3046CA251EF}"/>
              </a:ext>
            </a:extLst>
          </p:cNvPr>
          <p:cNvSpPr>
            <a:spLocks noGrp="1"/>
          </p:cNvSpPr>
          <p:nvPr/>
        </p:nvSpPr>
        <p:spPr>
          <a:xfrm>
            <a:off x="8439912" y="3794760"/>
            <a:ext cx="502920" cy="502920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375FAF1-BB64-4218-9D3E-AC61977A2171}"/>
              </a:ext>
            </a:extLst>
          </p:cNvPr>
          <p:cNvSpPr>
            <a:spLocks noGrp="1"/>
          </p:cNvSpPr>
          <p:nvPr/>
        </p:nvSpPr>
        <p:spPr>
          <a:xfrm>
            <a:off x="8439912" y="379476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8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C9DEA71-1905-4FAE-B7D1-C8C45BDBF2C8}"/>
              </a:ext>
            </a:extLst>
          </p:cNvPr>
          <p:cNvSpPr>
            <a:spLocks noGrp="1"/>
          </p:cNvSpPr>
          <p:nvPr/>
        </p:nvSpPr>
        <p:spPr>
          <a:xfrm>
            <a:off x="8439912" y="4434840"/>
            <a:ext cx="28803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일상 대비 관리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BCDFDB1-E582-4B88-94B2-69C56C7F1482}"/>
              </a:ext>
            </a:extLst>
          </p:cNvPr>
          <p:cNvSpPr>
            <a:spLocks noGrp="1"/>
          </p:cNvSpPr>
          <p:nvPr/>
        </p:nvSpPr>
        <p:spPr>
          <a:xfrm>
            <a:off x="8439912" y="4892040"/>
            <a:ext cx="28803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가구별 체크리스트로 준비 상태 관리</a:t>
            </a:r>
            <a:endParaRPr sz="12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A2AD736-9DE4-4ED2-B6EF-CAFEAC44B331}"/>
              </a:ext>
            </a:extLst>
          </p:cNvPr>
          <p:cNvSpPr>
            <a:spLocks noGrp="1"/>
          </p:cNvSpPr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04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14651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F75FF5-B17E-4550-97C1-7ADA14C29203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 spc="20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DIFFERENTIATOR 01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4A17AB-180B-49FC-8565-07D974D6A0F5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2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재난 위험 기반 안전 경로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3C972D-5BDE-4928-A396-81162D14815E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B884D7-485F-40D7-92E7-9A2C264C9AAA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F5A63E-6CB4-488B-B82F-5FB634FD2430}"/>
              </a:ext>
            </a:extLst>
          </p:cNvPr>
          <p:cNvSpPr>
            <a:spLocks noGrp="1"/>
          </p:cNvSpPr>
          <p:nvPr/>
        </p:nvSpPr>
        <p:spPr>
          <a:xfrm>
            <a:off x="1188720" y="1920240"/>
            <a:ext cx="5120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활용 데이터</a:t>
            </a:r>
            <a:endParaRPr sz="1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306C0F-108E-47BF-8C90-16DB43582C37}"/>
              </a:ext>
            </a:extLst>
          </p:cNvPr>
          <p:cNvSpPr>
            <a:spLocks noGrp="1"/>
          </p:cNvSpPr>
          <p:nvPr/>
        </p:nvSpPr>
        <p:spPr>
          <a:xfrm>
            <a:off x="1188720" y="2240280"/>
            <a:ext cx="52120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재난별 위험구역·도로 통제정보와 대피소 위치를 결합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72FE694-4BA5-49F8-9BBF-19A6E8402FF0}"/>
              </a:ext>
            </a:extLst>
          </p:cNvPr>
          <p:cNvSpPr>
            <a:spLocks noGrp="1"/>
          </p:cNvSpPr>
          <p:nvPr/>
        </p:nvSpPr>
        <p:spPr>
          <a:xfrm>
            <a:off x="777240" y="2468880"/>
            <a:ext cx="0" cy="59436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06ED0F0-E98B-4AF5-AB5C-AFD92847AE47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7F9B13-8589-43E1-BA9F-7462C1555149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B37E86F-E22E-4715-BE53-8A76ED5C7328}"/>
              </a:ext>
            </a:extLst>
          </p:cNvPr>
          <p:cNvSpPr>
            <a:spLocks noGrp="1"/>
          </p:cNvSpPr>
          <p:nvPr/>
        </p:nvSpPr>
        <p:spPr>
          <a:xfrm>
            <a:off x="1188720" y="3246120"/>
            <a:ext cx="5120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경로 로직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527D08C-EBC4-4C19-A2FC-678BD2270710}"/>
              </a:ext>
            </a:extLst>
          </p:cNvPr>
          <p:cNvSpPr>
            <a:spLocks noGrp="1"/>
          </p:cNvSpPr>
          <p:nvPr/>
        </p:nvSpPr>
        <p:spPr>
          <a:xfrm>
            <a:off x="1188720" y="3566160"/>
            <a:ext cx="52120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최단 경로와 위험구역 회피 경로를 함께 계산해 차이를 표시</a:t>
            </a:r>
            <a:endParaRPr sz="12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DC46292-B4D5-4F38-8F69-4E17C9411C2E}"/>
              </a:ext>
            </a:extLst>
          </p:cNvPr>
          <p:cNvSpPr>
            <a:spLocks noGrp="1"/>
          </p:cNvSpPr>
          <p:nvPr/>
        </p:nvSpPr>
        <p:spPr>
          <a:xfrm>
            <a:off x="777240" y="3794760"/>
            <a:ext cx="0" cy="59436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708BF26-73CD-4F88-8A3A-50C135785563}"/>
              </a:ext>
            </a:extLst>
          </p:cNvPr>
          <p:cNvSpPr>
            <a:spLocks noGrp="1"/>
          </p:cNvSpPr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43B266B-3401-481F-926E-AC2985739D81}"/>
              </a:ext>
            </a:extLst>
          </p:cNvPr>
          <p:cNvSpPr>
            <a:spLocks noGrp="1"/>
          </p:cNvSpPr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C4BA2FA-4D61-42D7-8D6E-256455AEB398}"/>
              </a:ext>
            </a:extLst>
          </p:cNvPr>
          <p:cNvSpPr>
            <a:spLocks noGrp="1"/>
          </p:cNvSpPr>
          <p:nvPr/>
        </p:nvSpPr>
        <p:spPr>
          <a:xfrm>
            <a:off x="1188720" y="4572000"/>
            <a:ext cx="5120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적용 범위</a:t>
            </a:r>
            <a:endParaRPr sz="13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5495C1E-CAB8-4477-AA19-F34E77F64992}"/>
              </a:ext>
            </a:extLst>
          </p:cNvPr>
          <p:cNvSpPr>
            <a:spLocks noGrp="1"/>
          </p:cNvSpPr>
          <p:nvPr/>
        </p:nvSpPr>
        <p:spPr>
          <a:xfrm>
            <a:off x="1188720" y="4892040"/>
            <a:ext cx="52120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1차 MVP는 산림 인접 특정 시·군의 산불 대피 시나리오로 검증</a:t>
            </a:r>
            <a:endParaRPr sz="12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58FBC1A-5E67-4318-B09E-C0B26B12B806}"/>
              </a:ext>
            </a:extLst>
          </p:cNvPr>
          <p:cNvSpPr>
            <a:spLocks noGrp="1"/>
          </p:cNvSpPr>
          <p:nvPr/>
        </p:nvSpPr>
        <p:spPr>
          <a:xfrm>
            <a:off x="667512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005F975-4C6D-4CAC-9A6E-6F2AE0B583BC}"/>
              </a:ext>
            </a:extLst>
          </p:cNvPr>
          <p:cNvSpPr>
            <a:spLocks noGrp="1"/>
          </p:cNvSpPr>
          <p:nvPr/>
        </p:nvSpPr>
        <p:spPr>
          <a:xfrm>
            <a:off x="6949440" y="2029968"/>
            <a:ext cx="37490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EAF0F6"/>
                </a:solidFill>
                <a:latin typeface="Calibri"/>
                <a:ea typeface="Calibri"/>
                <a:cs typeface="Calibri"/>
              </a:rPr>
              <a:t>지도 미리보기 (예시)</a:t>
            </a:r>
            <a:endParaRPr sz="12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ADF2A01-078F-4219-BA91-6F49E806EF3D}"/>
              </a:ext>
            </a:extLst>
          </p:cNvPr>
          <p:cNvSpPr>
            <a:spLocks noGrp="1"/>
          </p:cNvSpPr>
          <p:nvPr/>
        </p:nvSpPr>
        <p:spPr>
          <a:xfrm>
            <a:off x="10607040" y="2011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22345A"/>
          </a:solidFill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1B195FD-CFA6-4D3E-95CC-E9ED3C9BAC03}"/>
              </a:ext>
            </a:extLst>
          </p:cNvPr>
          <p:cNvSpPr>
            <a:spLocks noGrp="1"/>
          </p:cNvSpPr>
          <p:nvPr/>
        </p:nvSpPr>
        <p:spPr>
          <a:xfrm>
            <a:off x="10607040" y="2011680"/>
            <a:ext cx="7772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00" b="1">
                <a:solidFill>
                  <a:srgbClr val="4CAF50"/>
                </a:solidFill>
                <a:latin typeface="Calibri"/>
                <a:ea typeface="Calibri"/>
                <a:cs typeface="Calibri"/>
              </a:rPr>
              <a:t>예시 화면</a:t>
            </a:r>
            <a:endParaRPr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6893BF6-B384-46EA-A770-383ECDEB0573}"/>
              </a:ext>
            </a:extLst>
          </p:cNvPr>
          <p:cNvSpPr>
            <a:spLocks noGrp="1"/>
          </p:cNvSpPr>
          <p:nvPr/>
        </p:nvSpPr>
        <p:spPr>
          <a:xfrm>
            <a:off x="6949440" y="2450592"/>
            <a:ext cx="4389120" cy="2258568"/>
          </a:xfrm>
          <a:prstGeom prst="roundRect">
            <a:avLst>
              <a:gd name="adj" fmla="val 2024"/>
            </a:avLst>
          </a:prstGeom>
          <a:solidFill>
            <a:srgbClr val="22345A"/>
          </a:solidFill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EB28D68-D3A9-43A6-B3FE-4EC4F1BC7523}"/>
              </a:ext>
            </a:extLst>
          </p:cNvPr>
          <p:cNvSpPr>
            <a:spLocks noGrp="1"/>
          </p:cNvSpPr>
          <p:nvPr/>
        </p:nvSpPr>
        <p:spPr>
          <a:xfrm>
            <a:off x="8001000" y="2450592"/>
            <a:ext cx="0" cy="2258568"/>
          </a:xfrm>
          <a:prstGeom prst="line">
            <a:avLst/>
          </a:prstGeom>
          <a:noFill/>
          <a:ln w="15875">
            <a:solidFill>
              <a:srgbClr val="3E5C89">
                <a:alpha val="85000"/>
              </a:srgbClr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DD3F582-89C3-42E8-84E0-703283FE48FA}"/>
              </a:ext>
            </a:extLst>
          </p:cNvPr>
          <p:cNvSpPr>
            <a:spLocks noGrp="1"/>
          </p:cNvSpPr>
          <p:nvPr/>
        </p:nvSpPr>
        <p:spPr>
          <a:xfrm>
            <a:off x="9098280" y="2450592"/>
            <a:ext cx="0" cy="2258568"/>
          </a:xfrm>
          <a:prstGeom prst="line">
            <a:avLst/>
          </a:prstGeom>
          <a:noFill/>
          <a:ln w="15875">
            <a:solidFill>
              <a:srgbClr val="3E5C89">
                <a:alpha val="85000"/>
              </a:srgbClr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6C26DCF-2398-4D07-AAC2-80FB89E020A8}"/>
              </a:ext>
            </a:extLst>
          </p:cNvPr>
          <p:cNvSpPr>
            <a:spLocks noGrp="1"/>
          </p:cNvSpPr>
          <p:nvPr/>
        </p:nvSpPr>
        <p:spPr>
          <a:xfrm>
            <a:off x="10195560" y="2450592"/>
            <a:ext cx="0" cy="2258568"/>
          </a:xfrm>
          <a:prstGeom prst="line">
            <a:avLst/>
          </a:prstGeom>
          <a:noFill/>
          <a:ln w="15875">
            <a:solidFill>
              <a:srgbClr val="3E5C89">
                <a:alpha val="85000"/>
              </a:srgbClr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8A177D9-4214-4B55-A9C4-8A5359D6B85A}"/>
              </a:ext>
            </a:extLst>
          </p:cNvPr>
          <p:cNvSpPr>
            <a:spLocks noGrp="1"/>
          </p:cNvSpPr>
          <p:nvPr/>
        </p:nvSpPr>
        <p:spPr>
          <a:xfrm>
            <a:off x="6949440" y="2999232"/>
            <a:ext cx="4389120" cy="0"/>
          </a:xfrm>
          <a:prstGeom prst="line">
            <a:avLst/>
          </a:prstGeom>
          <a:noFill/>
          <a:ln w="15875">
            <a:solidFill>
              <a:srgbClr val="3E5C89">
                <a:alpha val="85000"/>
              </a:srgbClr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8018824-0F70-40AF-A03E-FACF587F5980}"/>
              </a:ext>
            </a:extLst>
          </p:cNvPr>
          <p:cNvSpPr>
            <a:spLocks noGrp="1"/>
          </p:cNvSpPr>
          <p:nvPr/>
        </p:nvSpPr>
        <p:spPr>
          <a:xfrm>
            <a:off x="6949440" y="3593592"/>
            <a:ext cx="4389120" cy="0"/>
          </a:xfrm>
          <a:prstGeom prst="line">
            <a:avLst/>
          </a:prstGeom>
          <a:noFill/>
          <a:ln w="15875">
            <a:solidFill>
              <a:srgbClr val="3E5C89">
                <a:alpha val="85000"/>
              </a:srgbClr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ECA3BE4-65CF-430C-9B33-FB39B6DA81F7}"/>
              </a:ext>
            </a:extLst>
          </p:cNvPr>
          <p:cNvSpPr>
            <a:spLocks noGrp="1"/>
          </p:cNvSpPr>
          <p:nvPr/>
        </p:nvSpPr>
        <p:spPr>
          <a:xfrm>
            <a:off x="6949440" y="4187952"/>
            <a:ext cx="4389120" cy="0"/>
          </a:xfrm>
          <a:prstGeom prst="line">
            <a:avLst/>
          </a:prstGeom>
          <a:noFill/>
          <a:ln w="15875">
            <a:solidFill>
              <a:srgbClr val="3E5C89">
                <a:alpha val="85000"/>
              </a:srgbClr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D8177E5-2238-4141-82D7-50C1670082F6}"/>
              </a:ext>
            </a:extLst>
          </p:cNvPr>
          <p:cNvSpPr>
            <a:spLocks noGrp="1"/>
          </p:cNvSpPr>
          <p:nvPr/>
        </p:nvSpPr>
        <p:spPr>
          <a:xfrm>
            <a:off x="8321040" y="2770632"/>
            <a:ext cx="1371600" cy="1051560"/>
          </a:xfrm>
          <a:prstGeom prst="roundRect">
            <a:avLst>
              <a:gd name="adj" fmla="val 5217"/>
            </a:avLst>
          </a:prstGeom>
          <a:solidFill>
            <a:srgbClr val="E63946">
              <a:alpha val="35000"/>
            </a:srgbClr>
          </a:solidFill>
          <a:ln w="12700">
            <a:solidFill>
              <a:srgbClr val="E63946">
                <a:alpha val="70000"/>
              </a:srgbClr>
            </a:solidFill>
            <a:prstDash val="dash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E37B53B-DB7A-4E97-8115-E7F14F7FE8A9}"/>
              </a:ext>
            </a:extLst>
          </p:cNvPr>
          <p:cNvSpPr>
            <a:spLocks noGrp="1"/>
          </p:cNvSpPr>
          <p:nvPr/>
        </p:nvSpPr>
        <p:spPr>
          <a:xfrm>
            <a:off x="8321040" y="3159252"/>
            <a:ext cx="1371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재난 위험 구간</a:t>
            </a:r>
            <a:endParaRPr sz="95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9B914DB-79F1-429E-BFD4-6C63FCD129E3}"/>
              </a:ext>
            </a:extLst>
          </p:cNvPr>
          <p:cNvSpPr>
            <a:spLocks noGrp="1"/>
          </p:cNvSpPr>
          <p:nvPr/>
        </p:nvSpPr>
        <p:spPr>
          <a:xfrm>
            <a:off x="7269480" y="2724912"/>
            <a:ext cx="0" cy="1709928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832CD17-48F3-47D3-8941-4CBAF59AD722}"/>
              </a:ext>
            </a:extLst>
          </p:cNvPr>
          <p:cNvSpPr>
            <a:spLocks noGrp="1"/>
          </p:cNvSpPr>
          <p:nvPr/>
        </p:nvSpPr>
        <p:spPr>
          <a:xfrm>
            <a:off x="7269480" y="4434840"/>
            <a:ext cx="374904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C76ED3B-33E4-4A5E-BFA8-189B0BC4F1A4}"/>
              </a:ext>
            </a:extLst>
          </p:cNvPr>
          <p:cNvSpPr>
            <a:spLocks noGrp="1"/>
          </p:cNvSpPr>
          <p:nvPr/>
        </p:nvSpPr>
        <p:spPr>
          <a:xfrm>
            <a:off x="7269480" y="2724912"/>
            <a:ext cx="3749040" cy="1709928"/>
          </a:xfrm>
          <a:prstGeom prst="line">
            <a:avLst/>
          </a:prstGeom>
          <a:noFill/>
          <a:ln w="38100">
            <a:solidFill>
              <a:srgbClr val="E63946"/>
            </a:solidFill>
            <a:prstDash val="dash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4B65C01-083E-449C-BD19-C120218F7D0A}"/>
              </a:ext>
            </a:extLst>
          </p:cNvPr>
          <p:cNvSpPr>
            <a:spLocks noGrp="1"/>
          </p:cNvSpPr>
          <p:nvPr/>
        </p:nvSpPr>
        <p:spPr>
          <a:xfrm>
            <a:off x="7168896" y="2624328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18C2669-1BFC-465F-B288-8B6CDB75CA66}"/>
              </a:ext>
            </a:extLst>
          </p:cNvPr>
          <p:cNvSpPr>
            <a:spLocks noGrp="1"/>
          </p:cNvSpPr>
          <p:nvPr/>
        </p:nvSpPr>
        <p:spPr>
          <a:xfrm>
            <a:off x="6720840" y="234086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현재 위치</a:t>
            </a:r>
            <a:endParaRPr sz="950"/>
          </a:p>
        </p:txBody>
      </p:sp>
      <p:pic>
        <p:nvPicPr>
          <p:cNvPr id="8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928" y="4069080"/>
            <a:ext cx="329184" cy="329184"/>
          </a:xfrm>
          <a:prstGeom prst="rect">
            <a:avLst/>
          </a:prstGeom>
        </p:spPr>
      </p:pic>
      <p:sp>
        <p:nvSpPr>
          <p:cNvPr id="37" name="Text 34">
            <a:extLst>
              <a:ext uri="{FF2B5EF4-FFF2-40B4-BE49-F238E27FC236}">
                <a16:creationId xmlns:a16="http://schemas.microsoft.com/office/drawing/2014/main" id="{1655C660-8F2D-41F8-80AC-89D64F24FE7D}"/>
              </a:ext>
            </a:extLst>
          </p:cNvPr>
          <p:cNvSpPr>
            <a:spLocks noGrp="1"/>
          </p:cNvSpPr>
          <p:nvPr/>
        </p:nvSpPr>
        <p:spPr>
          <a:xfrm>
            <a:off x="10195560" y="44897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대피소 A</a:t>
            </a:r>
            <a:endParaRPr sz="95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4C056C48-D309-482C-A655-BA1EE138EBE0}"/>
              </a:ext>
            </a:extLst>
          </p:cNvPr>
          <p:cNvSpPr>
            <a:spLocks noGrp="1"/>
          </p:cNvSpPr>
          <p:nvPr/>
        </p:nvSpPr>
        <p:spPr>
          <a:xfrm>
            <a:off x="8778240" y="39319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4CAF50"/>
          </a:solidFill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A8252BED-85D3-4121-AFD6-8222FE4E3587}"/>
              </a:ext>
            </a:extLst>
          </p:cNvPr>
          <p:cNvSpPr>
            <a:spLocks noGrp="1"/>
          </p:cNvSpPr>
          <p:nvPr/>
        </p:nvSpPr>
        <p:spPr>
          <a:xfrm>
            <a:off x="8778240" y="3931920"/>
            <a:ext cx="731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8분</a:t>
            </a:r>
            <a:endParaRPr sz="110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038F7995-68F5-458F-BE2C-8A7BA2E9FBB0}"/>
              </a:ext>
            </a:extLst>
          </p:cNvPr>
          <p:cNvSpPr>
            <a:spLocks noGrp="1"/>
          </p:cNvSpPr>
          <p:nvPr/>
        </p:nvSpPr>
        <p:spPr>
          <a:xfrm>
            <a:off x="9827971" y="343357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</p:spPr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6BE91FE6-3077-4A9A-BA38-C6AD0F016317}"/>
              </a:ext>
            </a:extLst>
          </p:cNvPr>
          <p:cNvSpPr>
            <a:spLocks noGrp="1"/>
          </p:cNvSpPr>
          <p:nvPr/>
        </p:nvSpPr>
        <p:spPr>
          <a:xfrm>
            <a:off x="9827971" y="3433572"/>
            <a:ext cx="731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6분</a:t>
            </a:r>
            <a:endParaRPr sz="110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9AFE8A71-F45F-4030-9907-6309FF5CF0A0}"/>
              </a:ext>
            </a:extLst>
          </p:cNvPr>
          <p:cNvSpPr>
            <a:spLocks noGrp="1"/>
          </p:cNvSpPr>
          <p:nvPr/>
        </p:nvSpPr>
        <p:spPr>
          <a:xfrm>
            <a:off x="6949440" y="4919472"/>
            <a:ext cx="274320" cy="118872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5EBE4C44-F595-4EFC-9E52-3220ACF14B3D}"/>
              </a:ext>
            </a:extLst>
          </p:cNvPr>
          <p:cNvSpPr>
            <a:spLocks noGrp="1"/>
          </p:cNvSpPr>
          <p:nvPr/>
        </p:nvSpPr>
        <p:spPr>
          <a:xfrm>
            <a:off x="7360920" y="4828032"/>
            <a:ext cx="3931920" cy="30175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>
                <a:solidFill>
                  <a:srgbClr val="EAF0F6"/>
                </a:solidFill>
                <a:latin typeface="Calibri"/>
                <a:ea typeface="Calibri"/>
                <a:cs typeface="Calibri"/>
              </a:rPr>
              <a:t>안전 우선 경로 · 위험 회피 (8분)</a:t>
            </a:r>
            <a:endParaRPr sz="115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28EE01F9-1F35-4F8E-93C6-51468195F333}"/>
              </a:ext>
            </a:extLst>
          </p:cNvPr>
          <p:cNvSpPr>
            <a:spLocks noGrp="1"/>
          </p:cNvSpPr>
          <p:nvPr/>
        </p:nvSpPr>
        <p:spPr>
          <a:xfrm>
            <a:off x="6949440" y="5257800"/>
            <a:ext cx="274320" cy="118872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AEC3E60D-8509-48FC-B071-780BAE5DFE27}"/>
              </a:ext>
            </a:extLst>
          </p:cNvPr>
          <p:cNvSpPr>
            <a:spLocks noGrp="1"/>
          </p:cNvSpPr>
          <p:nvPr/>
        </p:nvSpPr>
        <p:spPr>
          <a:xfrm>
            <a:off x="7360920" y="5166360"/>
            <a:ext cx="3931920" cy="30175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>
                <a:solidFill>
                  <a:srgbClr val="EAF0F6"/>
                </a:solidFill>
                <a:latin typeface="Calibri"/>
                <a:ea typeface="Calibri"/>
                <a:cs typeface="Calibri"/>
              </a:rPr>
              <a:t>최단 경로 · 위험 구간 포함 (6분)</a:t>
            </a:r>
            <a:endParaRPr sz="115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4B5CA2A9-4AC2-4B64-88FA-0D5EECCF0590}"/>
              </a:ext>
            </a:extLst>
          </p:cNvPr>
          <p:cNvSpPr>
            <a:spLocks noGrp="1"/>
          </p:cNvSpPr>
          <p:nvPr/>
        </p:nvSpPr>
        <p:spPr>
          <a:xfrm>
            <a:off x="6949440" y="5678424"/>
            <a:ext cx="43891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i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‘시간 우선’과 ‘안전 우선’을 비교하고 판단 근거를 함께 제공</a:t>
            </a:r>
            <a:endParaRPr sz="105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C3AE7D33-00A5-44FD-ABC2-8196F0CE7100}"/>
              </a:ext>
            </a:extLst>
          </p:cNvPr>
          <p:cNvSpPr>
            <a:spLocks noGrp="1"/>
          </p:cNvSpPr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05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3545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72549D-3D8B-43A0-A817-51A9F1E6F894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 spc="20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DIFFERENTIATOR 02 · 03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FFD990-4CD1-45E4-AFF9-97049B0F085C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2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대피소 적합도와 가구별 체크리스트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7A7282-415F-4F8E-B1D7-29BB558AEC6C}"/>
              </a:ext>
            </a:extLst>
          </p:cNvPr>
          <p:cNvSpPr>
            <a:spLocks noGrp="1"/>
          </p:cNvSpPr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D5C8FB0-0385-4A04-9291-FB11C53994C2}"/>
              </a:ext>
            </a:extLst>
          </p:cNvPr>
          <p:cNvSpPr>
            <a:spLocks noGrp="1"/>
          </p:cNvSpPr>
          <p:nvPr/>
        </p:nvSpPr>
        <p:spPr>
          <a:xfrm>
            <a:off x="914400" y="2240280"/>
            <a:ext cx="777240" cy="77724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2442362"/>
            <a:ext cx="373075" cy="373075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41EB047A-4971-4403-A20D-A8099DEADD70}"/>
              </a:ext>
            </a:extLst>
          </p:cNvPr>
          <p:cNvSpPr>
            <a:spLocks noGrp="1"/>
          </p:cNvSpPr>
          <p:nvPr/>
        </p:nvSpPr>
        <p:spPr>
          <a:xfrm>
            <a:off x="914400" y="3154680"/>
            <a:ext cx="46177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가구별 대비 체크리스트</a:t>
            </a:r>
            <a:endParaRPr sz="1900"/>
          </a:p>
        </p:txBody>
      </p:sp>
      <p:pic>
        <p:nvPicPr>
          <p:cNvPr id="3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703320"/>
            <a:ext cx="256032" cy="25603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AAF46D2C-6C01-4767-AAA3-06EE4B852E20}"/>
              </a:ext>
            </a:extLst>
          </p:cNvPr>
          <p:cNvSpPr>
            <a:spLocks noGrp="1"/>
          </p:cNvSpPr>
          <p:nvPr/>
        </p:nvSpPr>
        <p:spPr>
          <a:xfrm>
            <a:off x="1371600" y="3639312"/>
            <a:ext cx="41605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재난 유형별 기본 템플릿과 공식 행동요령 연결</a:t>
            </a:r>
            <a:endParaRPr sz="1250"/>
          </a:p>
        </p:txBody>
      </p:sp>
      <p:pic>
        <p:nvPicPr>
          <p:cNvPr id="41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25112"/>
            <a:ext cx="256032" cy="25603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053EBD90-E824-42B8-BB69-5E4F5CE93C1F}"/>
              </a:ext>
            </a:extLst>
          </p:cNvPr>
          <p:cNvSpPr>
            <a:spLocks noGrp="1"/>
          </p:cNvSpPr>
          <p:nvPr/>
        </p:nvSpPr>
        <p:spPr>
          <a:xfrm>
            <a:off x="1371600" y="4261104"/>
            <a:ext cx="41605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가구 구성에 따라 준비물·도움 요청 항목 추가</a:t>
            </a:r>
            <a:endParaRPr sz="1250"/>
          </a:p>
        </p:txBody>
      </p:sp>
      <p:pic>
        <p:nvPicPr>
          <p:cNvPr id="43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46904"/>
            <a:ext cx="256032" cy="256032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8745C195-EE5E-49A5-851A-111580809737}"/>
              </a:ext>
            </a:extLst>
          </p:cNvPr>
          <p:cNvSpPr>
            <a:spLocks noGrp="1"/>
          </p:cNvSpPr>
          <p:nvPr/>
        </p:nvSpPr>
        <p:spPr>
          <a:xfrm>
            <a:off x="1371600" y="4882896"/>
            <a:ext cx="41605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준비 완료율과 미완료 핵심 항목을 한눈에 표시</a:t>
            </a:r>
            <a:endParaRPr sz="125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330F56D4-1ABB-4FCB-8876-5A72EEDD4D70}"/>
              </a:ext>
            </a:extLst>
          </p:cNvPr>
          <p:cNvSpPr>
            <a:spLocks noGrp="1"/>
          </p:cNvSpPr>
          <p:nvPr/>
        </p:nvSpPr>
        <p:spPr>
          <a:xfrm>
            <a:off x="6172200" y="1874520"/>
            <a:ext cx="546811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9D7814D-168F-4CC3-A4C3-9D82610EB6CF}"/>
              </a:ext>
            </a:extLst>
          </p:cNvPr>
          <p:cNvSpPr>
            <a:spLocks noGrp="1"/>
          </p:cNvSpPr>
          <p:nvPr/>
        </p:nvSpPr>
        <p:spPr>
          <a:xfrm>
            <a:off x="6537960" y="2240280"/>
            <a:ext cx="777240" cy="77724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47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042" y="2442362"/>
            <a:ext cx="373075" cy="373075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D337ED94-A58E-4E7C-ABF8-1038E60E4A09}"/>
              </a:ext>
            </a:extLst>
          </p:cNvPr>
          <p:cNvSpPr>
            <a:spLocks noGrp="1"/>
          </p:cNvSpPr>
          <p:nvPr/>
        </p:nvSpPr>
        <p:spPr>
          <a:xfrm>
            <a:off x="6537960" y="3154680"/>
            <a:ext cx="4736592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사용자 맞춤 대피소 추천</a:t>
            </a:r>
            <a:endParaRPr sz="1900"/>
          </a:p>
        </p:txBody>
      </p:sp>
      <p:pic>
        <p:nvPicPr>
          <p:cNvPr id="49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703320"/>
            <a:ext cx="256032" cy="256032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B044C888-8EAE-46CA-A7F8-E50C2CBB3050}"/>
              </a:ext>
            </a:extLst>
          </p:cNvPr>
          <p:cNvSpPr>
            <a:spLocks noGrp="1"/>
          </p:cNvSpPr>
          <p:nvPr/>
        </p:nvSpPr>
        <p:spPr>
          <a:xfrm>
            <a:off x="6995160" y="3639312"/>
            <a:ext cx="427939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현재 위치에서 가까운 대피소 후보 3곳 비교</a:t>
            </a:r>
            <a:endParaRPr sz="1250"/>
          </a:p>
        </p:txBody>
      </p:sp>
      <p:pic>
        <p:nvPicPr>
          <p:cNvPr id="51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25112"/>
            <a:ext cx="256032" cy="256032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282FD411-1DAA-4872-BA9D-32A9474FEBA0}"/>
              </a:ext>
            </a:extLst>
          </p:cNvPr>
          <p:cNvSpPr>
            <a:spLocks noGrp="1"/>
          </p:cNvSpPr>
          <p:nvPr/>
        </p:nvSpPr>
        <p:spPr>
          <a:xfrm>
            <a:off x="6995160" y="4261104"/>
            <a:ext cx="427939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공공데이터로 확인 가능한 접근성·시설 정보 표시</a:t>
            </a:r>
            <a:endParaRPr sz="1250"/>
          </a:p>
        </p:txBody>
      </p:sp>
      <p:pic>
        <p:nvPicPr>
          <p:cNvPr id="53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946904"/>
            <a:ext cx="256032" cy="256032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7C3C72F7-2C83-4DE2-86EC-EF86C097D1BC}"/>
              </a:ext>
            </a:extLst>
          </p:cNvPr>
          <p:cNvSpPr>
            <a:spLocks noGrp="1"/>
          </p:cNvSpPr>
          <p:nvPr/>
        </p:nvSpPr>
        <p:spPr>
          <a:xfrm>
            <a:off x="6995160" y="4882896"/>
            <a:ext cx="427939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고령자·이동약자 등 가구 조건을 후보 비교에 반영</a:t>
            </a:r>
            <a:endParaRPr sz="125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2DB2625A-DB82-400B-BFF5-67AD1621BBF2}"/>
              </a:ext>
            </a:extLst>
          </p:cNvPr>
          <p:cNvSpPr>
            <a:spLocks noGrp="1"/>
          </p:cNvSpPr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06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40037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462FA0-A3D5-4C6D-8704-843A5A002C14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 spc="20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AI APPLICATION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C8AD9-901F-4202-8C5A-D6F9C63C4C2E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2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AI 활용 방안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37440C-74C9-4BB7-B1E3-0B273033C3B9}"/>
              </a:ext>
            </a:extLst>
          </p:cNvPr>
          <p:cNvSpPr>
            <a:spLocks noGrp="1"/>
          </p:cNvSpPr>
          <p:nvPr/>
        </p:nvSpPr>
        <p:spPr>
          <a:xfrm>
            <a:off x="54864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2BE356-E6F5-4756-BBE6-EE6D8A399981}"/>
              </a:ext>
            </a:extLst>
          </p:cNvPr>
          <p:cNvSpPr>
            <a:spLocks noGrp="1"/>
          </p:cNvSpPr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2396642"/>
            <a:ext cx="373075" cy="373075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BE768656-BF9C-4353-8643-D0F6A6E7DC37}"/>
              </a:ext>
            </a:extLst>
          </p:cNvPr>
          <p:cNvSpPr>
            <a:spLocks noGrp="1"/>
          </p:cNvSpPr>
          <p:nvPr/>
        </p:nvSpPr>
        <p:spPr>
          <a:xfrm>
            <a:off x="1920240" y="2286000"/>
            <a:ext cx="3749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공식 기준을 보존하는 AI 요약</a:t>
            </a:r>
            <a:endParaRPr sz="165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B2D4C7C-AD77-49CC-A6A8-C5519BB6D808}"/>
              </a:ext>
            </a:extLst>
          </p:cNvPr>
          <p:cNvSpPr>
            <a:spLocks noGrp="1"/>
          </p:cNvSpPr>
          <p:nvPr/>
        </p:nvSpPr>
        <p:spPr>
          <a:xfrm>
            <a:off x="914400" y="3154680"/>
            <a:ext cx="466344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35000"/>
              </a:lnSpc>
              <a:buNone/>
            </a:pPr>
            <a:r>
              <a:rPr sz="1250">
                <a:solidFill>
                  <a:srgbClr val="EAF0F6"/>
                </a:solidFill>
                <a:latin typeface="Calibri"/>
                <a:ea typeface="Calibri"/>
                <a:cs typeface="Calibri"/>
              </a:rPr>
              <a:t>기관 원문의 재난 단계는 그대로 유지하고 핵심 내용과 행동요령만 쉬운 문장으로 요약</a:t>
            </a:r>
            <a:endParaRPr sz="125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C28ED73-2914-421F-93ED-0AF61EF3BC72}"/>
              </a:ext>
            </a:extLst>
          </p:cNvPr>
          <p:cNvSpPr>
            <a:spLocks noGrp="1"/>
          </p:cNvSpPr>
          <p:nvPr/>
        </p:nvSpPr>
        <p:spPr>
          <a:xfrm>
            <a:off x="6245352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3DC0B40-8F9F-4DB2-AC80-2ECEA0803E05}"/>
              </a:ext>
            </a:extLst>
          </p:cNvPr>
          <p:cNvSpPr>
            <a:spLocks noGrp="1"/>
          </p:cNvSpPr>
          <p:nvPr/>
        </p:nvSpPr>
        <p:spPr>
          <a:xfrm>
            <a:off x="6611112" y="2194560"/>
            <a:ext cx="777240" cy="77724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3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194" y="2396642"/>
            <a:ext cx="373075" cy="373075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BF1A889E-6F25-46C3-9E88-BA45EE99CBB6}"/>
              </a:ext>
            </a:extLst>
          </p:cNvPr>
          <p:cNvSpPr>
            <a:spLocks noGrp="1"/>
          </p:cNvSpPr>
          <p:nvPr/>
        </p:nvSpPr>
        <p:spPr>
          <a:xfrm>
            <a:off x="7616952" y="2286000"/>
            <a:ext cx="3749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체크리스트 설명 지원</a:t>
            </a:r>
            <a:endParaRPr sz="165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45E6D7B-20FE-4278-95EF-1E73A9D1EDBB}"/>
              </a:ext>
            </a:extLst>
          </p:cNvPr>
          <p:cNvSpPr>
            <a:spLocks noGrp="1"/>
          </p:cNvSpPr>
          <p:nvPr/>
        </p:nvSpPr>
        <p:spPr>
          <a:xfrm>
            <a:off x="6611112" y="3154680"/>
            <a:ext cx="466344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35000"/>
              </a:lnSpc>
              <a:buNone/>
            </a:pPr>
            <a:r>
              <a:rPr sz="1250">
                <a:solidFill>
                  <a:srgbClr val="EAF0F6"/>
                </a:solidFill>
                <a:latin typeface="Calibri"/>
                <a:ea typeface="Calibri"/>
                <a:cs typeface="Calibri"/>
              </a:rPr>
              <a:t>항목 추천은 규칙 기반으로 처리하고, AI는 쉬운 설명과 준비 우선순위 제안에 한정</a:t>
            </a:r>
            <a:endParaRPr sz="125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F8B3ACB-8D13-47DF-B12D-F1DDC892B152}"/>
              </a:ext>
            </a:extLst>
          </p:cNvPr>
          <p:cNvSpPr>
            <a:spLocks noGrp="1"/>
          </p:cNvSpPr>
          <p:nvPr/>
        </p:nvSpPr>
        <p:spPr>
          <a:xfrm>
            <a:off x="548640" y="43434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0F6"/>
          </a:solidFill>
        </p:spPr>
      </p:sp>
      <p:pic>
        <p:nvPicPr>
          <p:cNvPr id="35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590288"/>
            <a:ext cx="548640" cy="54864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8AD50CC2-0DA2-413E-A910-779F82B39E83}"/>
              </a:ext>
            </a:extLst>
          </p:cNvPr>
          <p:cNvSpPr>
            <a:spLocks noGrp="1"/>
          </p:cNvSpPr>
          <p:nvPr/>
        </p:nvSpPr>
        <p:spPr>
          <a:xfrm>
            <a:off x="1691640" y="4462272"/>
            <a:ext cx="96926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</a:pPr>
            <a:r>
              <a:rPr sz="1450" b="1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모든 AI 결과에 발행기관·원문 링크·발표시간·갱신시간을 표시</a:t>
            </a:r>
            <a:endParaRPr sz="145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97D186A-44A1-415F-A167-2796E024B225}"/>
              </a:ext>
            </a:extLst>
          </p:cNvPr>
          <p:cNvSpPr>
            <a:spLocks noGrp="1"/>
          </p:cNvSpPr>
          <p:nvPr/>
        </p:nvSpPr>
        <p:spPr>
          <a:xfrm>
            <a:off x="1691640" y="4846320"/>
            <a:ext cx="9692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※ AI가 재난 심각도나 새 행동지침을 임의로 만들지 않으며, 오류 시 원문을 그대로 제공</a:t>
            </a:r>
            <a:endParaRPr sz="11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7D331EE-E9AA-47EA-877B-A08E3FA16F16}"/>
              </a:ext>
            </a:extLst>
          </p:cNvPr>
          <p:cNvSpPr>
            <a:spLocks noGrp="1"/>
          </p:cNvSpPr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07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85058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D3A1FA-A979-41C1-9685-3E28890DF377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 spc="20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TECH STACK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D97F77-CD91-472A-986E-4170ED06467F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2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기술 스택 및 시스템 구조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7DB5F84-164B-4D06-9D03-FDC2B131CD97}"/>
              </a:ext>
            </a:extLst>
          </p:cNvPr>
          <p:cNvSpPr>
            <a:spLocks noGrp="1"/>
          </p:cNvSpPr>
          <p:nvPr/>
        </p:nvSpPr>
        <p:spPr>
          <a:xfrm>
            <a:off x="548640" y="19202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</p:spPr>
      </p:sp>
      <p:pic>
        <p:nvPicPr>
          <p:cNvPr id="4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194560"/>
            <a:ext cx="585216" cy="58521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6014712-9C12-4A8D-B4C9-462885F4B0AC}"/>
              </a:ext>
            </a:extLst>
          </p:cNvPr>
          <p:cNvSpPr>
            <a:spLocks noGrp="1"/>
          </p:cNvSpPr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5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Frontend</a:t>
            </a:r>
            <a:endParaRPr sz="115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E56D33E-28AD-4358-94C1-647E45A9BC98}"/>
              </a:ext>
            </a:extLst>
          </p:cNvPr>
          <p:cNvSpPr>
            <a:spLocks noGrp="1"/>
          </p:cNvSpPr>
          <p:nvPr/>
        </p:nvSpPr>
        <p:spPr>
          <a:xfrm>
            <a:off x="640080" y="3154680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React</a:t>
            </a:r>
            <a:endParaRPr sz="105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D4E17EE-44C4-4DE0-B99A-5B7A84A107F9}"/>
              </a:ext>
            </a:extLst>
          </p:cNvPr>
          <p:cNvSpPr>
            <a:spLocks noGrp="1"/>
          </p:cNvSpPr>
          <p:nvPr/>
        </p:nvSpPr>
        <p:spPr>
          <a:xfrm>
            <a:off x="2779776" y="19202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</p:spPr>
      </p:sp>
      <p:pic>
        <p:nvPicPr>
          <p:cNvPr id="5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194560"/>
            <a:ext cx="585216" cy="585216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0D881C82-40AB-47EF-B463-C10034C087A7}"/>
              </a:ext>
            </a:extLst>
          </p:cNvPr>
          <p:cNvSpPr>
            <a:spLocks noGrp="1"/>
          </p:cNvSpPr>
          <p:nvPr/>
        </p:nvSpPr>
        <p:spPr>
          <a:xfrm>
            <a:off x="2871216" y="2880360"/>
            <a:ext cx="18288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5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Backend</a:t>
            </a:r>
            <a:endParaRPr sz="11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330A687-6395-4690-970F-0F27A38F87C5}"/>
              </a:ext>
            </a:extLst>
          </p:cNvPr>
          <p:cNvSpPr>
            <a:spLocks noGrp="1"/>
          </p:cNvSpPr>
          <p:nvPr/>
        </p:nvSpPr>
        <p:spPr>
          <a:xfrm>
            <a:off x="2871216" y="3154680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Spring Boot</a:t>
            </a:r>
            <a:endParaRPr sz="1050"/>
          </a:p>
          <a:p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(REST API)</a:t>
            </a:r>
            <a:endParaRPr sz="105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A29E80A-744A-4D77-9326-DF21411E06DD}"/>
              </a:ext>
            </a:extLst>
          </p:cNvPr>
          <p:cNvSpPr>
            <a:spLocks noGrp="1"/>
          </p:cNvSpPr>
          <p:nvPr/>
        </p:nvSpPr>
        <p:spPr>
          <a:xfrm>
            <a:off x="5010912" y="19202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</p:spPr>
      </p:sp>
      <p:pic>
        <p:nvPicPr>
          <p:cNvPr id="56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44" y="2194560"/>
            <a:ext cx="585216" cy="585216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4A398458-A465-4B90-965B-9F0CFEAF1D34}"/>
              </a:ext>
            </a:extLst>
          </p:cNvPr>
          <p:cNvSpPr>
            <a:spLocks noGrp="1"/>
          </p:cNvSpPr>
          <p:nvPr/>
        </p:nvSpPr>
        <p:spPr>
          <a:xfrm>
            <a:off x="5102352" y="2880360"/>
            <a:ext cx="18288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5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Database</a:t>
            </a:r>
            <a:endParaRPr sz="115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8B0AED3-57CC-4F47-A485-9A83468758E2}"/>
              </a:ext>
            </a:extLst>
          </p:cNvPr>
          <p:cNvSpPr>
            <a:spLocks noGrp="1"/>
          </p:cNvSpPr>
          <p:nvPr/>
        </p:nvSpPr>
        <p:spPr>
          <a:xfrm>
            <a:off x="5102352" y="3154680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PostgreSQL</a:t>
            </a:r>
            <a:endParaRPr sz="105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92AE7E45-4474-487E-BF12-849B9ECB6B85}"/>
              </a:ext>
            </a:extLst>
          </p:cNvPr>
          <p:cNvSpPr>
            <a:spLocks noGrp="1"/>
          </p:cNvSpPr>
          <p:nvPr/>
        </p:nvSpPr>
        <p:spPr>
          <a:xfrm>
            <a:off x="7242048" y="19202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</p:spPr>
      </p:sp>
      <p:pic>
        <p:nvPicPr>
          <p:cNvPr id="60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2194560"/>
            <a:ext cx="585216" cy="585216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CDAE5EBC-BD07-4194-A86B-59FEC567EB50}"/>
              </a:ext>
            </a:extLst>
          </p:cNvPr>
          <p:cNvSpPr>
            <a:spLocks noGrp="1"/>
          </p:cNvSpPr>
          <p:nvPr/>
        </p:nvSpPr>
        <p:spPr>
          <a:xfrm>
            <a:off x="7333488" y="2880360"/>
            <a:ext cx="18288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5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지도/경로</a:t>
            </a:r>
            <a:endParaRPr sz="115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216EA13F-E8EC-4E8F-A934-144E90D9D982}"/>
              </a:ext>
            </a:extLst>
          </p:cNvPr>
          <p:cNvSpPr>
            <a:spLocks noGrp="1"/>
          </p:cNvSpPr>
          <p:nvPr/>
        </p:nvSpPr>
        <p:spPr>
          <a:xfrm>
            <a:off x="7333488" y="3154680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카카오맵 + 공공 공간정보</a:t>
            </a:r>
            <a:endParaRPr sz="105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567671C6-FDF2-4B14-A3D9-CB4FE03AEA04}"/>
              </a:ext>
            </a:extLst>
          </p:cNvPr>
          <p:cNvSpPr>
            <a:spLocks noGrp="1"/>
          </p:cNvSpPr>
          <p:nvPr/>
        </p:nvSpPr>
        <p:spPr>
          <a:xfrm>
            <a:off x="9473184" y="19202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</p:spPr>
      </p:sp>
      <p:pic>
        <p:nvPicPr>
          <p:cNvPr id="64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6416" y="2194560"/>
            <a:ext cx="585216" cy="585216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DAE711FC-E2A6-4622-BFAF-2EABBAFE8A9C}"/>
              </a:ext>
            </a:extLst>
          </p:cNvPr>
          <p:cNvSpPr>
            <a:spLocks noGrp="1"/>
          </p:cNvSpPr>
          <p:nvPr/>
        </p:nvSpPr>
        <p:spPr>
          <a:xfrm>
            <a:off x="9564624" y="2880360"/>
            <a:ext cx="18288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5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AI</a:t>
            </a:r>
            <a:endParaRPr sz="115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62F742D9-F4C0-429D-88B8-6ED656B8F5C6}"/>
              </a:ext>
            </a:extLst>
          </p:cNvPr>
          <p:cNvSpPr>
            <a:spLocks noGrp="1"/>
          </p:cNvSpPr>
          <p:nvPr/>
        </p:nvSpPr>
        <p:spPr>
          <a:xfrm>
            <a:off x="9564624" y="3154680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LLM API</a:t>
            </a:r>
            <a:endParaRPr sz="1050"/>
          </a:p>
          <a:p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(요약)</a:t>
            </a:r>
            <a:endParaRPr sz="105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0F821D1-D887-4BC7-BB99-52F8B1B5A1BB}"/>
              </a:ext>
            </a:extLst>
          </p:cNvPr>
          <p:cNvSpPr>
            <a:spLocks noGrp="1"/>
          </p:cNvSpPr>
          <p:nvPr/>
        </p:nvSpPr>
        <p:spPr>
          <a:xfrm>
            <a:off x="548640" y="4069080"/>
            <a:ext cx="3657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데이터 흐름</a:t>
            </a:r>
            <a:endParaRPr sz="150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A403902B-87F5-4E47-A1EE-5EA53DDB04C4}"/>
              </a:ext>
            </a:extLst>
          </p:cNvPr>
          <p:cNvSpPr>
            <a:spLocks noGrp="1"/>
          </p:cNvSpPr>
          <p:nvPr/>
        </p:nvSpPr>
        <p:spPr>
          <a:xfrm>
            <a:off x="548640" y="44805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</p:spPr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1608FBB9-8E80-4BE7-A661-F86E23DE62EA}"/>
              </a:ext>
            </a:extLst>
          </p:cNvPr>
          <p:cNvSpPr>
            <a:spLocks noGrp="1"/>
          </p:cNvSpPr>
          <p:nvPr/>
        </p:nvSpPr>
        <p:spPr>
          <a:xfrm>
            <a:off x="685800" y="4480560"/>
            <a:ext cx="224028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재난·대피소 공공 API</a:t>
            </a:r>
            <a:endParaRPr sz="1150"/>
          </a:p>
          <a:p>
            <a:pPr marL="0" indent="0" algn="ctr">
              <a:lnSpc>
                <a:spcPct val="120000"/>
              </a:lnSpc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(행정안전부·산림청·기상청)</a:t>
            </a:r>
            <a:endParaRPr sz="1150"/>
          </a:p>
        </p:txBody>
      </p:sp>
      <p:pic>
        <p:nvPicPr>
          <p:cNvPr id="70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0672" y="5029200"/>
            <a:ext cx="274320" cy="274320"/>
          </a:xfrm>
          <a:prstGeom prst="rect">
            <a:avLst/>
          </a:prstGeom>
        </p:spPr>
      </p:pic>
      <p:sp>
        <p:nvSpPr>
          <p:cNvPr id="28" name="Shape 20">
            <a:extLst>
              <a:ext uri="{FF2B5EF4-FFF2-40B4-BE49-F238E27FC236}">
                <a16:creationId xmlns:a16="http://schemas.microsoft.com/office/drawing/2014/main" id="{F7A65B27-35FA-4DD3-8BA5-C7B0CA0F4AD2}"/>
              </a:ext>
            </a:extLst>
          </p:cNvPr>
          <p:cNvSpPr>
            <a:spLocks noGrp="1"/>
          </p:cNvSpPr>
          <p:nvPr/>
        </p:nvSpPr>
        <p:spPr>
          <a:xfrm>
            <a:off x="3383280" y="44805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</p:spPr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FDDB630E-B721-4A6E-BDEF-4A28AA88E859}"/>
              </a:ext>
            </a:extLst>
          </p:cNvPr>
          <p:cNvSpPr>
            <a:spLocks noGrp="1"/>
          </p:cNvSpPr>
          <p:nvPr/>
        </p:nvSpPr>
        <p:spPr>
          <a:xfrm>
            <a:off x="3520440" y="4480560"/>
            <a:ext cx="224028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Spring Boot</a:t>
            </a:r>
            <a:endParaRPr sz="1150"/>
          </a:p>
          <a:p>
            <a:pPr marL="0" indent="0" algn="ctr">
              <a:lnSpc>
                <a:spcPct val="120000"/>
              </a:lnSpc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데이터 수집·정규화</a:t>
            </a:r>
            <a:endParaRPr sz="1150"/>
          </a:p>
        </p:txBody>
      </p:sp>
      <p:pic>
        <p:nvPicPr>
          <p:cNvPr id="73" name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5312" y="5029200"/>
            <a:ext cx="274320" cy="274320"/>
          </a:xfrm>
          <a:prstGeom prst="rect">
            <a:avLst/>
          </a:prstGeom>
        </p:spPr>
      </p:pic>
      <p:sp>
        <p:nvSpPr>
          <p:cNvPr id="31" name="Shape 22">
            <a:extLst>
              <a:ext uri="{FF2B5EF4-FFF2-40B4-BE49-F238E27FC236}">
                <a16:creationId xmlns:a16="http://schemas.microsoft.com/office/drawing/2014/main" id="{C2BC3F12-01A8-4C81-8F61-94D53C45F889}"/>
              </a:ext>
            </a:extLst>
          </p:cNvPr>
          <p:cNvSpPr>
            <a:spLocks noGrp="1"/>
          </p:cNvSpPr>
          <p:nvPr/>
        </p:nvSpPr>
        <p:spPr>
          <a:xfrm>
            <a:off x="6217920" y="44805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</p:spPr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FE3E59AA-522E-4252-B6B7-11635B2F66B6}"/>
              </a:ext>
            </a:extLst>
          </p:cNvPr>
          <p:cNvSpPr>
            <a:spLocks noGrp="1"/>
          </p:cNvSpPr>
          <p:nvPr/>
        </p:nvSpPr>
        <p:spPr>
          <a:xfrm>
            <a:off x="6355080" y="4480560"/>
            <a:ext cx="224028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요약</a:t>
            </a:r>
            <a:endParaRPr sz="1150"/>
          </a:p>
          <a:p>
            <a:pPr marL="0" indent="0" algn="ctr">
              <a:lnSpc>
                <a:spcPct val="120000"/>
              </a:lnSpc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저장(PostgreSQL)</a:t>
            </a:r>
            <a:endParaRPr sz="1150"/>
          </a:p>
        </p:txBody>
      </p:sp>
      <p:pic>
        <p:nvPicPr>
          <p:cNvPr id="76" name="Imag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952" y="5029200"/>
            <a:ext cx="274320" cy="274320"/>
          </a:xfrm>
          <a:prstGeom prst="rect">
            <a:avLst/>
          </a:prstGeom>
        </p:spPr>
      </p:pic>
      <p:sp>
        <p:nvSpPr>
          <p:cNvPr id="34" name="Shape 24">
            <a:extLst>
              <a:ext uri="{FF2B5EF4-FFF2-40B4-BE49-F238E27FC236}">
                <a16:creationId xmlns:a16="http://schemas.microsoft.com/office/drawing/2014/main" id="{DC0DC150-767A-4F30-8661-9BB115298D9E}"/>
              </a:ext>
            </a:extLst>
          </p:cNvPr>
          <p:cNvSpPr>
            <a:spLocks noGrp="1"/>
          </p:cNvSpPr>
          <p:nvPr/>
        </p:nvSpPr>
        <p:spPr>
          <a:xfrm>
            <a:off x="9052560" y="44805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</p:spPr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564FC7F-A0AF-403C-95D5-767C2CA38B90}"/>
              </a:ext>
            </a:extLst>
          </p:cNvPr>
          <p:cNvSpPr>
            <a:spLocks noGrp="1"/>
          </p:cNvSpPr>
          <p:nvPr/>
        </p:nvSpPr>
        <p:spPr>
          <a:xfrm>
            <a:off x="9189720" y="4480560"/>
            <a:ext cx="224028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 대시보드</a:t>
            </a:r>
            <a:endParaRPr sz="1150"/>
          </a:p>
          <a:p>
            <a:pPr marL="0" indent="0" algn="ctr">
              <a:lnSpc>
                <a:spcPct val="120000"/>
              </a:lnSpc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알림</a:t>
            </a:r>
            <a:endParaRPr sz="115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4E3C7C-C0FD-4CE0-A3F7-804568B08535}"/>
              </a:ext>
            </a:extLst>
          </p:cNvPr>
          <p:cNvSpPr>
            <a:spLocks noGrp="1"/>
          </p:cNvSpPr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08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71969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D6A974-FC77-4074-A465-E0C354CAE23F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 spc="20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DEVELOPMENT ROADMAP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0DE3FF-0C73-4684-A178-7587E9033821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2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개발 범위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74C0C1-E47E-4CEA-8DCC-DAE67E01C060}"/>
              </a:ext>
            </a:extLst>
          </p:cNvPr>
          <p:cNvSpPr>
            <a:spLocks noGrp="1"/>
          </p:cNvSpPr>
          <p:nvPr/>
        </p:nvSpPr>
        <p:spPr>
          <a:xfrm>
            <a:off x="548640" y="18288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CA4D66-248A-441C-A124-7FB06406BBF6}"/>
              </a:ext>
            </a:extLst>
          </p:cNvPr>
          <p:cNvSpPr>
            <a:spLocks noGrp="1"/>
          </p:cNvSpPr>
          <p:nvPr/>
        </p:nvSpPr>
        <p:spPr>
          <a:xfrm>
            <a:off x="548640" y="1828800"/>
            <a:ext cx="5349240" cy="59436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41C4CE-DCB2-481E-BCBE-0BD720DD0442}"/>
              </a:ext>
            </a:extLst>
          </p:cNvPr>
          <p:cNvSpPr>
            <a:spLocks noGrp="1"/>
          </p:cNvSpPr>
          <p:nvPr/>
        </p:nvSpPr>
        <p:spPr>
          <a:xfrm>
            <a:off x="822960" y="1828800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1차 개발 범위 · MVP</a:t>
            </a:r>
            <a:endParaRPr sz="1600"/>
          </a:p>
        </p:txBody>
      </p:sp>
      <p:pic>
        <p:nvPicPr>
          <p:cNvPr id="4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0"/>
            <a:ext cx="237744" cy="237744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F3C15720-4184-4C89-AB93-4489822F78CD}"/>
              </a:ext>
            </a:extLst>
          </p:cNvPr>
          <p:cNvSpPr>
            <a:spLocks noGrp="1"/>
          </p:cNvSpPr>
          <p:nvPr/>
        </p:nvSpPr>
        <p:spPr>
          <a:xfrm>
            <a:off x="1234440" y="2679192"/>
            <a:ext cx="44805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소셜 로그인 · 가구 구성 등록</a:t>
            </a:r>
            <a:endParaRPr sz="1250"/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46704"/>
            <a:ext cx="237744" cy="23774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B4105662-0C2D-4762-90D9-2EE486B2FA2D}"/>
              </a:ext>
            </a:extLst>
          </p:cNvPr>
          <p:cNvSpPr>
            <a:spLocks noGrp="1"/>
          </p:cNvSpPr>
          <p:nvPr/>
        </p:nvSpPr>
        <p:spPr>
          <a:xfrm>
            <a:off x="1234440" y="3282696"/>
            <a:ext cx="44805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산불 재난정보 대시보드 (공공 API)</a:t>
            </a:r>
            <a:endParaRPr sz="1250"/>
          </a:p>
        </p:txBody>
      </p:sp>
      <p:pic>
        <p:nvPicPr>
          <p:cNvPr id="45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50208"/>
            <a:ext cx="237744" cy="237744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330AB4D4-C30D-403C-9970-75C4FB6D520C}"/>
              </a:ext>
            </a:extLst>
          </p:cNvPr>
          <p:cNvSpPr>
            <a:spLocks noGrp="1"/>
          </p:cNvSpPr>
          <p:nvPr/>
        </p:nvSpPr>
        <p:spPr>
          <a:xfrm>
            <a:off x="1234440" y="3886200"/>
            <a:ext cx="44805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AI 요약 · 출처/갱신시각 표시</a:t>
            </a:r>
            <a:endParaRPr sz="1250"/>
          </a:p>
        </p:txBody>
      </p:sp>
      <p:pic>
        <p:nvPicPr>
          <p:cNvPr id="47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53712"/>
            <a:ext cx="237744" cy="237744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54DF9218-F918-4B40-9C15-6C8BEC44EEF2}"/>
              </a:ext>
            </a:extLst>
          </p:cNvPr>
          <p:cNvSpPr>
            <a:spLocks noGrp="1"/>
          </p:cNvSpPr>
          <p:nvPr/>
        </p:nvSpPr>
        <p:spPr>
          <a:xfrm>
            <a:off x="1234440" y="4489704"/>
            <a:ext cx="44805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대피소 후보 3곳 비교</a:t>
            </a:r>
            <a:endParaRPr sz="1250"/>
          </a:p>
        </p:txBody>
      </p:sp>
      <p:pic>
        <p:nvPicPr>
          <p:cNvPr id="49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57216"/>
            <a:ext cx="237744" cy="237744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641097F7-9C34-4AAD-BD90-5BDAFA8F3A94}"/>
              </a:ext>
            </a:extLst>
          </p:cNvPr>
          <p:cNvSpPr>
            <a:spLocks noGrp="1"/>
          </p:cNvSpPr>
          <p:nvPr/>
        </p:nvSpPr>
        <p:spPr>
          <a:xfrm>
            <a:off x="1234440" y="5093208"/>
            <a:ext cx="44805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가구별 체크리스트 · 완료율 표시</a:t>
            </a:r>
            <a:endParaRPr sz="125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027610F-A0BE-4776-80FB-73AB93EA7D56}"/>
              </a:ext>
            </a:extLst>
          </p:cNvPr>
          <p:cNvSpPr>
            <a:spLocks noGrp="1"/>
          </p:cNvSpPr>
          <p:nvPr/>
        </p:nvSpPr>
        <p:spPr>
          <a:xfrm>
            <a:off x="6172200" y="1828800"/>
            <a:ext cx="546811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B2832671-1A49-4B36-84B0-37DA4A46B237}"/>
              </a:ext>
            </a:extLst>
          </p:cNvPr>
          <p:cNvSpPr>
            <a:spLocks noGrp="1"/>
          </p:cNvSpPr>
          <p:nvPr/>
        </p:nvSpPr>
        <p:spPr>
          <a:xfrm>
            <a:off x="6172200" y="1828800"/>
            <a:ext cx="5468112" cy="59436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673520A-520F-4AD9-ABCB-55E9DF91351E}"/>
              </a:ext>
            </a:extLst>
          </p:cNvPr>
          <p:cNvSpPr>
            <a:spLocks noGrp="1"/>
          </p:cNvSpPr>
          <p:nvPr/>
        </p:nvSpPr>
        <p:spPr>
          <a:xfrm>
            <a:off x="6446520" y="1828800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2차 개발 범위 · 고도화</a:t>
            </a:r>
            <a:endParaRPr sz="1600"/>
          </a:p>
        </p:txBody>
      </p:sp>
      <p:pic>
        <p:nvPicPr>
          <p:cNvPr id="54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0"/>
            <a:ext cx="237744" cy="237744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995ED638-3A7B-42F0-ACD6-392FB029C2D9}"/>
              </a:ext>
            </a:extLst>
          </p:cNvPr>
          <p:cNvSpPr>
            <a:spLocks noGrp="1"/>
          </p:cNvSpPr>
          <p:nvPr/>
        </p:nvSpPr>
        <p:spPr>
          <a:xfrm>
            <a:off x="6858000" y="2679192"/>
            <a:ext cx="4572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확산 위험구역 회피 경로 (산림 인접 특정 지역)</a:t>
            </a:r>
            <a:endParaRPr sz="1250"/>
          </a:p>
        </p:txBody>
      </p:sp>
      <p:pic>
        <p:nvPicPr>
          <p:cNvPr id="5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611880"/>
            <a:ext cx="237744" cy="237744"/>
          </a:xfrm>
          <a:prstGeom prst="rect">
            <a:avLst/>
          </a:prstGeom>
        </p:spPr>
      </p:pic>
      <p:sp>
        <p:nvSpPr>
          <p:cNvPr id="23" name="Text 14">
            <a:extLst>
              <a:ext uri="{FF2B5EF4-FFF2-40B4-BE49-F238E27FC236}">
                <a16:creationId xmlns:a16="http://schemas.microsoft.com/office/drawing/2014/main" id="{2A9DC4E5-CBAB-4650-B7C1-20BD5E6482DA}"/>
              </a:ext>
            </a:extLst>
          </p:cNvPr>
          <p:cNvSpPr>
            <a:spLocks noGrp="1"/>
          </p:cNvSpPr>
          <p:nvPr/>
        </p:nvSpPr>
        <p:spPr>
          <a:xfrm>
            <a:off x="6858000" y="3547872"/>
            <a:ext cx="4572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대피소 적합도 추천 고도화</a:t>
            </a:r>
            <a:endParaRPr sz="1250"/>
          </a:p>
        </p:txBody>
      </p:sp>
      <p:pic>
        <p:nvPicPr>
          <p:cNvPr id="5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80560"/>
            <a:ext cx="237744" cy="237744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A427C2BC-D45C-4517-80FB-F5BBD155F99D}"/>
              </a:ext>
            </a:extLst>
          </p:cNvPr>
          <p:cNvSpPr>
            <a:spLocks noGrp="1"/>
          </p:cNvSpPr>
          <p:nvPr/>
        </p:nvSpPr>
        <p:spPr>
          <a:xfrm>
            <a:off x="6858000" y="4416552"/>
            <a:ext cx="4572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혼잡도 데이터 적용 가능성 검증</a:t>
            </a:r>
            <a:endParaRPr sz="125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72DB916C-0885-4F79-9C03-4EE51504B26D}"/>
              </a:ext>
            </a:extLst>
          </p:cNvPr>
          <p:cNvSpPr>
            <a:spLocks noGrp="1"/>
          </p:cNvSpPr>
          <p:nvPr/>
        </p:nvSpPr>
        <p:spPr>
          <a:xfrm>
            <a:off x="6446520" y="5486400"/>
            <a:ext cx="49377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</a:pPr>
            <a:r>
              <a:rPr sz="10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향후 확장: 호우·지진 등 재난 유형 확대 · 다국어 요약 검토</a:t>
            </a:r>
            <a:endParaRPr sz="105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5087E7D4-1D68-4B2B-881A-FAFDB8F72F58}"/>
              </a:ext>
            </a:extLst>
          </p:cNvPr>
          <p:cNvSpPr>
            <a:spLocks noGrp="1"/>
          </p:cNvSpPr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09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56847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E2DDD6-1535-4D0A-8570-2709AB053100}"/>
              </a:ext>
            </a:extLst>
          </p:cNvPr>
          <p:cNvSpPr>
            <a:spLocks noGrp="1"/>
          </p:cNvSpPr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E4265"/>
          </a:solidFill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DBB0639-9DBD-4542-A653-7719165CD289}"/>
              </a:ext>
            </a:extLst>
          </p:cNvPr>
          <p:cNvSpPr>
            <a:spLocks noGrp="1"/>
          </p:cNvSpPr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E4265"/>
          </a:solidFill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6387280-E677-4060-9048-86A50E7D8217}"/>
              </a:ext>
            </a:extLst>
          </p:cNvPr>
          <p:cNvSpPr>
            <a:spLocks noGrp="1"/>
          </p:cNvSpPr>
          <p:nvPr/>
        </p:nvSpPr>
        <p:spPr>
          <a:xfrm>
            <a:off x="5592928" y="1828800"/>
            <a:ext cx="1005840" cy="10058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446" y="2090318"/>
            <a:ext cx="482803" cy="482803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EE9B9BD-E23D-4355-8F95-920A3D083474}"/>
              </a:ext>
            </a:extLst>
          </p:cNvPr>
          <p:cNvSpPr>
            <a:spLocks noGrp="1"/>
          </p:cNvSpPr>
          <p:nvPr/>
        </p:nvSpPr>
        <p:spPr>
          <a:xfrm>
            <a:off x="0" y="3108960"/>
            <a:ext cx="1219169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감사합니다</a:t>
            </a:r>
            <a:endParaRPr sz="40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15CD639-FE45-454E-BF5E-44976A101E10}"/>
              </a:ext>
            </a:extLst>
          </p:cNvPr>
          <p:cNvSpPr>
            <a:spLocks noGrp="1"/>
          </p:cNvSpPr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30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Q &amp; A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254560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</Words>
  <Application>Microsoft Macintosh PowerPoint</Application>
  <DocSecurity>0</DocSecurity>
  <PresentationFormat>와이드스크린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1</cp:revision>
  <dcterms:created xsi:type="dcterms:W3CDTF">2026-09-17T18:36:27Z</dcterms:created>
  <dcterms:modified xsi:type="dcterms:W3CDTF">2026-09-17T22:51:27Z</dcterms:modified>
</cp:coreProperties>
</file>